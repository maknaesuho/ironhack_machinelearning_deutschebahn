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Space Mono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  <p:embeddedFont>
      <p:font typeface="Plus Jakarta Sans"/>
      <p:bold r:id="rId27"/>
      <p:boldItalic r:id="rId28"/>
    </p:embeddedFont>
    <p:embeddedFont>
      <p:font typeface="Public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F2A40B-D227-45F2-8C6A-087671CE7AFB}">
  <a:tblStyle styleId="{76F2A40B-D227-45F2-8C6A-087671CE7A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Mono-bold.fntdata"/><Relationship Id="rId22" Type="http://schemas.openxmlformats.org/officeDocument/2006/relationships/font" Target="fonts/SpaceMono-boldItalic.fntdata"/><Relationship Id="rId21" Type="http://schemas.openxmlformats.org/officeDocument/2006/relationships/font" Target="fonts/SpaceMono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-italic.fntdata"/><Relationship Id="rId30" Type="http://schemas.openxmlformats.org/officeDocument/2006/relationships/font" Target="fonts/Public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ublic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SpaceMon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3c76a0b00031b9bd_1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h3c76a0b00031b9bd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3c76a0b00031b9bd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Our project asks a simple question: can machine learning tell us which Deutsche Bahn train will be delayed before it even leaves the station?</a:t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EC0016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12800" y="2373643"/>
            <a:ext cx="105663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Public Sans"/>
              <a:buNone/>
              <a:defRPr sz="6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812800" y="4304043"/>
            <a:ext cx="105663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444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ne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00" y="5080000"/>
            <a:ext cx="10261601" cy="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/>
          <p:nvPr/>
        </p:nvSpPr>
        <p:spPr>
          <a:xfrm>
            <a:off x="850900" y="4991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C0016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3416300" y="4991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C0016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5981700" y="4991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C0016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547100" y="4991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C0016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11112500" y="49911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EC0016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12800" y="5372100"/>
            <a:ext cx="1701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Hamburg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3378200" y="5372100"/>
            <a:ext cx="1701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Hannover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943600" y="5372100"/>
            <a:ext cx="1701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Köln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8509000" y="5372100"/>
            <a:ext cx="1701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Frankfurt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9677400" y="5372100"/>
            <a:ext cx="1701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München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208000" y="812800"/>
            <a:ext cx="2436900" cy="365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C0016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EC0016"/>
                </a:solidFill>
                <a:latin typeface="Public Sans"/>
                <a:ea typeface="Public Sans"/>
                <a:cs typeface="Public Sans"/>
                <a:sym typeface="Public Sans"/>
              </a:rPr>
              <a:t>MACHINE LEARNING PROJECT</a:t>
            </a:r>
            <a:endParaRPr b="0" i="0" sz="12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812800" y="2373643"/>
            <a:ext cx="108834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ublic Sans"/>
              <a:buNone/>
            </a:pPr>
            <a:r>
              <a:rPr b="1" i="0" lang="en-US" sz="6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Deutsche Bahn</a:t>
            </a:r>
            <a:endParaRPr sz="6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ublic Sans"/>
              <a:buNone/>
            </a:pPr>
            <a:r>
              <a:rPr b="1" i="0" lang="en-US" sz="64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Delay Prediction</a:t>
            </a:r>
            <a:endParaRPr sz="6400"/>
          </a:p>
        </p:txBody>
      </p:sp>
      <p:sp>
        <p:nvSpPr>
          <p:cNvPr id="101" name="Google Shape;101;p14"/>
          <p:cNvSpPr/>
          <p:nvPr/>
        </p:nvSpPr>
        <p:spPr>
          <a:xfrm>
            <a:off x="812800" y="5760773"/>
            <a:ext cx="108834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ublic Sans"/>
              <a:buNone/>
            </a:pPr>
            <a:r>
              <a:rPr b="1" lang="en-US" sz="16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Sofija Šarafejeva</a:t>
            </a:r>
            <a:endParaRPr b="0" i="0" sz="1600" u="none" cap="none" strike="noStrike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865023"/>
            <a:ext cx="228600" cy="261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4286600" y="2718825"/>
            <a:ext cx="3454500" cy="2120700"/>
          </a:xfrm>
          <a:prstGeom prst="roundRect">
            <a:avLst>
              <a:gd fmla="val 45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16500" y="2718825"/>
            <a:ext cx="3454500" cy="2120700"/>
          </a:xfrm>
          <a:prstGeom prst="roundRect">
            <a:avLst>
              <a:gd fmla="val 45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8051900" y="2718825"/>
            <a:ext cx="3454500" cy="2120700"/>
          </a:xfrm>
          <a:prstGeom prst="roundRect">
            <a:avLst>
              <a:gd fmla="val 45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8050" y="29517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211" y="29238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8124" y="29518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62825" y="305653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5162" y="3043925"/>
            <a:ext cx="219075" cy="140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2899" y="305663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85800" y="533400"/>
            <a:ext cx="1091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01 / OVERVIEW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4200" y="5910377"/>
            <a:ext cx="104613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According to official 2024 DB reports, 67.4% of trains were classified as on-time, though this metric incorporates delays up to 15 minutes.</a:t>
            </a:r>
            <a:endParaRPr b="1" i="0" sz="1600">
              <a:solidFill>
                <a:srgbClr val="EF444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Overview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62800" y="4321617"/>
            <a:ext cx="299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column : has_delay (0 vs 1)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953400" y="3026750"/>
            <a:ext cx="251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Classification Objective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15200" y="3557171"/>
            <a:ext cx="29973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 a model that predicts whether the train will have a delay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346274" y="2998887"/>
            <a:ext cx="158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Kaggle Database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40413" y="3511325"/>
            <a:ext cx="29019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trains passing through the Germany's 20 largest cities during: 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2024-07-07 to 2024-09-06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891624" y="3026750"/>
            <a:ext cx="1232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28125" y="3557275"/>
            <a:ext cx="27447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67%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delays vs </a:t>
            </a:r>
            <a:r>
              <a:rPr b="1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31%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 time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 ≥ 1 min  →  has_delay: 1</a:t>
            </a:r>
            <a:endParaRPr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685800" y="2219325"/>
            <a:ext cx="5238900" cy="9273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85800" y="3303825"/>
            <a:ext cx="5238900" cy="852600"/>
          </a:xfrm>
          <a:prstGeom prst="roundRect">
            <a:avLst>
              <a:gd fmla="val 88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85800" y="4313625"/>
            <a:ext cx="5238900" cy="1076400"/>
          </a:xfrm>
          <a:prstGeom prst="roundRect">
            <a:avLst>
              <a:gd fmla="val 88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450" y="1828800"/>
            <a:ext cx="523875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85800" y="533400"/>
            <a:ext cx="10915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02 / DATA PREPARATION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Selection and Preparation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14400" y="2368238"/>
            <a:ext cx="383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Cleanup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2667000"/>
            <a:ext cx="490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Filtered 77,146 logs down to 21,438 valid DB long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-distance train types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14388" y="3436188"/>
            <a:ext cx="627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Cancellation Segregation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14400" y="3761400"/>
            <a:ext cx="4876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Removed 2,042 outright cancellations into dedicated scope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14400" y="4504125"/>
            <a:ext cx="6275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Leakage Shield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4761300"/>
            <a:ext cx="487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Dropped post-incident columns: </a:t>
            </a:r>
            <a:endParaRPr b="0" i="0" sz="13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expected_time and real_time</a:t>
            </a:r>
            <a:endParaRPr/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766" r="24153" t="666"/>
          <a:stretch/>
        </p:blipFill>
        <p:spPr>
          <a:xfrm>
            <a:off x="6513962" y="2110700"/>
            <a:ext cx="4745725" cy="35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1675325" y="2990850"/>
            <a:ext cx="2562300" cy="1809600"/>
          </a:xfrm>
          <a:prstGeom prst="roundRect">
            <a:avLst>
              <a:gd fmla="val 631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428050" y="2990850"/>
            <a:ext cx="2562300" cy="1809600"/>
          </a:xfrm>
          <a:prstGeom prst="roundRect">
            <a:avLst>
              <a:gd fmla="val 631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314275" y="2990775"/>
            <a:ext cx="2562300" cy="1809600"/>
          </a:xfrm>
          <a:prstGeom prst="roundRect">
            <a:avLst>
              <a:gd fmla="val 631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85800" y="533400"/>
            <a:ext cx="639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03 / FEATURE ENGINEERING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85800" y="790575"/>
            <a:ext cx="6541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Transforming Schedules Into Predictors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903925" y="3257550"/>
            <a:ext cx="22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TEMPORAL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56650" y="3257550"/>
            <a:ext cx="22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542875" y="3257475"/>
            <a:ext cx="22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913450" y="3552825"/>
            <a:ext cx="273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Combined Datetime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913450" y="3867150"/>
            <a:ext cx="2181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Extracted hour, minute, day, and weekend indicators.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666175" y="3552825"/>
            <a:ext cx="273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Station Clustering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666175" y="3867150"/>
            <a:ext cx="21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Grouped top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origins and 20 destinations.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552400" y="3552750"/>
            <a:ext cx="2737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OneHotEncoder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552400" y="3867075"/>
            <a:ext cx="2181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Encoded all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categorical features </a:t>
            </a: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resulting in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50 standardized variables.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685800" y="2490787"/>
            <a:ext cx="10820400" cy="1609725"/>
          </a:xfrm>
          <a:prstGeom prst="roundRect">
            <a:avLst>
              <a:gd fmla="val 94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157662" y="2914650"/>
            <a:ext cx="9525" cy="76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234362" y="2914650"/>
            <a:ext cx="9525" cy="76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85800" y="533400"/>
            <a:ext cx="10915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04 / DATA DISTRIBUTION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Asymmetry: 2:1 Delay Skew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152525" y="2843212"/>
            <a:ext cx="2488406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67.2%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52525" y="3529012"/>
            <a:ext cx="24884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Delayed Trips (2,881 Test)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181600" y="2843212"/>
            <a:ext cx="254793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32.8%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181600" y="3529012"/>
            <a:ext cx="2547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On-Time Trips (1,407 Test)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9258300" y="2843212"/>
            <a:ext cx="222646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4,288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258300" y="3529012"/>
            <a:ext cx="22264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Evaluation 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19"/>
          <p:cNvGraphicFramePr/>
          <p:nvPr/>
        </p:nvGraphicFramePr>
        <p:xfrm>
          <a:off x="1694775" y="22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{76F2A40B-D227-45F2-8C6A-087671CE7AFB}</a:tableStyleId>
              </a:tblPr>
              <a:tblGrid>
                <a:gridCol w="3020225"/>
                <a:gridCol w="1784550"/>
                <a:gridCol w="2162075"/>
                <a:gridCol w="18190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Algorithm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Test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Precision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Recall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Random Forest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76.33%</a:t>
                      </a:r>
                      <a:endParaRPr>
                        <a:solidFill>
                          <a:srgbClr val="059669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78.46%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89.27%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XGBoost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73.51%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74.79%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.36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K-Nearest Neighbors (k=5)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73.</a:t>
                      </a: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40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78.36%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84.07%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Gradient Boosting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72.04%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73.03%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92</a:t>
                      </a:r>
                      <a:r>
                        <a:rPr i="0" lang="en-US" sz="1350" u="none" cap="none" strike="noStrike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r>
                        <a:rPr i="0" lang="en-US" sz="1350" u="none" cap="none" strike="noStrike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57</a:t>
                      </a:r>
                      <a:r>
                        <a:rPr i="0" lang="en-US" sz="1350" u="none" cap="none" strike="noStrike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AdaBoost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71.29%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73.01%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</a:t>
                      </a: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.87%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9"/>
          <p:cNvSpPr txBox="1"/>
          <p:nvPr/>
        </p:nvSpPr>
        <p:spPr>
          <a:xfrm>
            <a:off x="685800" y="533400"/>
            <a:ext cx="1091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b="1" lang="en-US" sz="10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4</a:t>
            </a: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 / MODEL COMPARISON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Building and Evaluation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753475" y="695112"/>
            <a:ext cx="22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4,288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753475" y="1380912"/>
            <a:ext cx="222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Evaluation Set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/>
          <p:nvPr/>
        </p:nvSpPr>
        <p:spPr>
          <a:xfrm>
            <a:off x="733375" y="2217450"/>
            <a:ext cx="5258100" cy="2423100"/>
          </a:xfrm>
          <a:prstGeom prst="roundRect">
            <a:avLst>
              <a:gd fmla="val 2723" name="adj"/>
            </a:avLst>
          </a:prstGeom>
          <a:solidFill>
            <a:srgbClr val="F8FAFC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296350" y="2217450"/>
            <a:ext cx="5257500" cy="2423100"/>
          </a:xfrm>
          <a:prstGeom prst="roundRect">
            <a:avLst>
              <a:gd fmla="val 2723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057225" y="3608475"/>
            <a:ext cx="4610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610597" y="3618888"/>
            <a:ext cx="462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85800" y="533400"/>
            <a:ext cx="1091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b="1" lang="en-US" sz="10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5</a:t>
            </a: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 / OPTIMIZATION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Optimization - Grid Search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057225" y="2979450"/>
            <a:ext cx="3407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best parameters:</a:t>
            </a:r>
            <a:endParaRPr sz="1125">
              <a:solidFill>
                <a:srgbClr val="334155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depth=20 | split=5 | leaf=1 | n=100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610599" y="2969925"/>
            <a:ext cx="2930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best parameters:</a:t>
            </a:r>
            <a:endParaRPr sz="1125">
              <a:solidFill>
                <a:srgbClr val="334155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Space Mono"/>
                <a:ea typeface="Space Mono"/>
                <a:cs typeface="Space Mono"/>
                <a:sym typeface="Space Mono"/>
              </a:rPr>
              <a:t>lr=0.25 | depth=8 | n=100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057225" y="2541300"/>
            <a:ext cx="403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Random Forest (Champion)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57225" y="3912900"/>
            <a:ext cx="108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ACCURACY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57225" y="4084350"/>
            <a:ext cx="13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77.05%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752825" y="3915075"/>
            <a:ext cx="121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RECALL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2752825" y="4082175"/>
            <a:ext cx="12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610597" y="2531775"/>
            <a:ext cx="323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XGBoost (Runner-Up)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610597" y="3915063"/>
            <a:ext cx="13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ACCURACY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610597" y="4079088"/>
            <a:ext cx="13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76.17%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362250" y="3915075"/>
            <a:ext cx="121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</a:t>
            </a:r>
            <a:r>
              <a:rPr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362250" y="4082175"/>
            <a:ext cx="12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78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63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315500" y="3915075"/>
            <a:ext cx="121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RECALL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315500" y="4079100"/>
            <a:ext cx="12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90.42%</a:t>
            </a:r>
            <a:endParaRPr>
              <a:solidFill>
                <a:srgbClr val="EF4444"/>
              </a:solidFill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9877600" y="3912900"/>
            <a:ext cx="121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</a:t>
            </a:r>
            <a:r>
              <a:rPr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877600" y="4079100"/>
            <a:ext cx="121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78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1" lang="en-US" sz="1800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63</a:t>
            </a:r>
            <a:r>
              <a:rPr b="1" i="0" lang="en-US" sz="1800" u="none" cap="none" strike="noStrike">
                <a:solidFill>
                  <a:srgbClr val="3876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685800" y="2514600"/>
            <a:ext cx="2533650" cy="1266825"/>
          </a:xfrm>
          <a:prstGeom prst="roundRect">
            <a:avLst>
              <a:gd fmla="val 90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371850" y="2514600"/>
            <a:ext cx="2533650" cy="1266825"/>
          </a:xfrm>
          <a:prstGeom prst="roundRect">
            <a:avLst>
              <a:gd fmla="val 9022" name="adj"/>
            </a:avLst>
          </a:prstGeom>
          <a:solidFill>
            <a:srgbClr val="FFF1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85800" y="3933825"/>
            <a:ext cx="2533650" cy="1266825"/>
          </a:xfrm>
          <a:prstGeom prst="roundRect">
            <a:avLst>
              <a:gd fmla="val 9022" name="adj"/>
            </a:avLst>
          </a:prstGeom>
          <a:solidFill>
            <a:srgbClr val="FFF1F2"/>
          </a:solidFill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371850" y="3933825"/>
            <a:ext cx="2533650" cy="1266825"/>
          </a:xfrm>
          <a:prstGeom prst="roundRect">
            <a:avLst>
              <a:gd fmla="val 9022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6286500" y="2876550"/>
            <a:ext cx="52197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286500" y="3943350"/>
            <a:ext cx="5219700" cy="8953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286500" y="2876550"/>
            <a:ext cx="38100" cy="8953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286500" y="3943350"/>
            <a:ext cx="38100" cy="8953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685800" y="533400"/>
            <a:ext cx="1091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b="1" lang="en-US" sz="10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6</a:t>
            </a: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 / ERROR DISTRIBUTION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Confusion</a:t>
            </a: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Matrix: 2,</a:t>
            </a: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605</a:t>
            </a: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Delays Caught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4843" y="2743200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Space Mono"/>
                <a:ea typeface="Space Mono"/>
                <a:cs typeface="Space Mono"/>
                <a:sym typeface="Space Mono"/>
              </a:rPr>
              <a:t>TRUE ON-TIME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4843" y="3000375"/>
            <a:ext cx="259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699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3352800" y="2752725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FALSE ALARMS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3352800" y="3009900"/>
            <a:ext cx="257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708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66750" y="4171950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MISSED DELAYS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66750" y="4429125"/>
            <a:ext cx="257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276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3352800" y="4171950"/>
            <a:ext cx="2571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59669"/>
                </a:solidFill>
                <a:latin typeface="Space Mono"/>
                <a:ea typeface="Space Mono"/>
                <a:cs typeface="Space Mono"/>
                <a:sym typeface="Space Mono"/>
              </a:rPr>
              <a:t>TRUE DELAYS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3352800" y="4429125"/>
            <a:ext cx="257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</a:t>
            </a:r>
            <a:r>
              <a:rPr b="1" lang="en-US" sz="33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605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553200" y="3067050"/>
            <a:ext cx="563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.4% Delay Capture Rate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553200" y="3362325"/>
            <a:ext cx="5638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captures 2,517 out of 2,881 test delays reliably.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553200" y="4133850"/>
            <a:ext cx="563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Only 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 Unpredicted Delays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6553200" y="4429125"/>
            <a:ext cx="56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276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trips slip through without prior dispatch notice.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/>
        </p:nvSpPr>
        <p:spPr>
          <a:xfrm>
            <a:off x="685800" y="533400"/>
            <a:ext cx="1091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0</a:t>
            </a:r>
            <a:r>
              <a:rPr b="1" lang="en-US" sz="10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7</a:t>
            </a: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 / </a:t>
            </a:r>
            <a:r>
              <a:rPr b="1" lang="en-US" sz="1050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ROADMAP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85800" y="790575"/>
            <a:ext cx="11506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Work and Improvements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4705975" y="1635350"/>
            <a:ext cx="378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EC001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 model accuracy of 77% low ?</a:t>
            </a:r>
            <a:endParaRPr sz="1800">
              <a:solidFill>
                <a:srgbClr val="EC0016"/>
              </a:solidFill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888250" y="2477329"/>
            <a:ext cx="2533800" cy="2685900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650500" y="2477329"/>
            <a:ext cx="2533800" cy="2685900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412750" y="2477329"/>
            <a:ext cx="2533800" cy="2685900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9175000" y="2477329"/>
            <a:ext cx="2533800" cy="2685900"/>
          </a:xfrm>
          <a:prstGeom prst="roundRect">
            <a:avLst>
              <a:gd fmla="val 15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88250" y="5153556"/>
            <a:ext cx="25338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888250" y="2477329"/>
            <a:ext cx="2533800" cy="47700"/>
          </a:xfrm>
          <a:prstGeom prst="rect">
            <a:avLst/>
          </a:prstGeom>
          <a:solidFill>
            <a:srgbClr val="282D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888250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412375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650500" y="5153556"/>
            <a:ext cx="25338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3650500" y="2477329"/>
            <a:ext cx="2533800" cy="47700"/>
          </a:xfrm>
          <a:prstGeom prst="rect">
            <a:avLst/>
          </a:prstGeom>
          <a:solidFill>
            <a:srgbClr val="282D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650500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174625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412750" y="5153556"/>
            <a:ext cx="25338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6412750" y="2477329"/>
            <a:ext cx="2533800" cy="47700"/>
          </a:xfrm>
          <a:prstGeom prst="rect">
            <a:avLst/>
          </a:prstGeom>
          <a:solidFill>
            <a:srgbClr val="282D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6412750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8936875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9175000" y="5153556"/>
            <a:ext cx="25338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9175000" y="2477329"/>
            <a:ext cx="2533800" cy="47700"/>
          </a:xfrm>
          <a:prstGeom prst="rect">
            <a:avLst/>
          </a:prstGeom>
          <a:solidFill>
            <a:srgbClr val="282D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9175000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11699125" y="2477329"/>
            <a:ext cx="9600" cy="2685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75" y="2829754"/>
            <a:ext cx="1905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4825" y="2829754"/>
            <a:ext cx="1905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7075" y="2829754"/>
            <a:ext cx="19050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9325" y="2829754"/>
            <a:ext cx="1905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1202575" y="3248854"/>
            <a:ext cx="21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2D37"/>
                </a:solidFill>
                <a:latin typeface="Roboto"/>
                <a:ea typeface="Roboto"/>
                <a:cs typeface="Roboto"/>
                <a:sym typeface="Roboto"/>
              </a:rPr>
              <a:t>Weather </a:t>
            </a:r>
            <a:r>
              <a:rPr b="1" lang="en-US" sz="1500">
                <a:solidFill>
                  <a:srgbClr val="282D37"/>
                </a:solidFill>
                <a:latin typeface="Roboto"/>
                <a:ea typeface="Roboto"/>
                <a:cs typeface="Roboto"/>
                <a:sym typeface="Roboto"/>
              </a:rPr>
              <a:t>analysis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107475" y="3819379"/>
            <a:ext cx="2000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3"/>
                </a:solidFill>
                <a:latin typeface="Roboto"/>
                <a:ea typeface="Roboto"/>
                <a:cs typeface="Roboto"/>
                <a:sym typeface="Roboto"/>
              </a:rPr>
              <a:t>Ingest DWD storm, freeze, and wind warnings to predict environmental disruption.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3964825" y="3248854"/>
            <a:ext cx="25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2D37"/>
                </a:solidFill>
                <a:latin typeface="Roboto"/>
                <a:ea typeface="Roboto"/>
                <a:cs typeface="Roboto"/>
                <a:sym typeface="Roboto"/>
              </a:rPr>
              <a:t>Distance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3917313" y="3676354"/>
            <a:ext cx="2000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3"/>
                </a:solidFill>
                <a:latin typeface="Roboto"/>
                <a:ea typeface="Roboto"/>
                <a:cs typeface="Roboto"/>
                <a:sym typeface="Roboto"/>
              </a:rPr>
              <a:t>Analyze total route distance kilometers to evaluate cascading delay risks on long-haul ICEs.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727075" y="3248854"/>
            <a:ext cx="21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2D37"/>
                </a:solidFill>
                <a:latin typeface="Roboto"/>
                <a:ea typeface="Roboto"/>
                <a:cs typeface="Roboto"/>
                <a:sym typeface="Roboto"/>
              </a:rPr>
              <a:t>Delay Reasons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679550" y="3710704"/>
            <a:ext cx="2000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3"/>
                </a:solidFill>
                <a:latin typeface="Roboto"/>
                <a:ea typeface="Roboto"/>
                <a:cs typeface="Roboto"/>
                <a:sym typeface="Roboto"/>
              </a:rPr>
              <a:t>Classify specific failure modes (e.g., technical fault vs. track blockage) for targeted mitigation.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9489325" y="3248854"/>
            <a:ext cx="25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82D37"/>
                </a:solidFill>
                <a:latin typeface="Roboto"/>
                <a:ea typeface="Roboto"/>
                <a:cs typeface="Roboto"/>
                <a:sym typeface="Roboto"/>
              </a:rPr>
              <a:t>Seasonality 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489325" y="3710700"/>
            <a:ext cx="2219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6473"/>
                </a:solidFill>
                <a:latin typeface="Roboto"/>
                <a:ea typeface="Roboto"/>
                <a:cs typeface="Roboto"/>
                <a:sym typeface="Roboto"/>
              </a:rPr>
              <a:t>Map month-by-month patterns across winter/summer schedules to adjust baseline delay probabilities.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/>
          <p:nvPr/>
        </p:nvSpPr>
        <p:spPr>
          <a:xfrm>
            <a:off x="685800" y="1466850"/>
            <a:ext cx="5238750" cy="485775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6267450" y="1466850"/>
            <a:ext cx="5238750" cy="4857750"/>
          </a:xfrm>
          <a:prstGeom prst="roundRect">
            <a:avLst>
              <a:gd fmla="val 235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00125" y="3152775"/>
            <a:ext cx="4610100" cy="66675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6581775" y="3152775"/>
            <a:ext cx="4610100" cy="66675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1000125" y="3152775"/>
            <a:ext cx="28575" cy="6667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581775" y="3152775"/>
            <a:ext cx="28575" cy="6667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685800" y="533400"/>
            <a:ext cx="10915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10 / RETROSPECTIVE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Bottlenecks &amp; Solutions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990600" y="1771650"/>
            <a:ext cx="47244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6572250" y="1771650"/>
            <a:ext cx="4724400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1000125" y="2085975"/>
            <a:ext cx="605075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Dirty Text &amp; Route Cardinality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000125" y="2505075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 14,000 raw route strings contained ad-hoc delay remarks, disruption codes, and transit tags.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581775" y="2085975"/>
            <a:ext cx="5610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Imbalance Bias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6581775" y="2505075"/>
            <a:ext cx="4705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natural 2:1 delay skew caused uncalibrated models to over-predict delay warnings.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162050" y="3286125"/>
            <a:ext cx="4410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Solution: Regex string extraction mapped 95% of traffic to Top 20 destinations.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743700" y="3286125"/>
            <a:ext cx="44100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Solution: Evaluated ROC-AUC (0.817) and shifted decision thresholds to 0.62.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/>
          <p:nvPr/>
        </p:nvSpPr>
        <p:spPr>
          <a:xfrm>
            <a:off x="685800" y="2928937"/>
            <a:ext cx="2562225" cy="1933575"/>
          </a:xfrm>
          <a:prstGeom prst="roundRect">
            <a:avLst>
              <a:gd fmla="val 59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3438525" y="2928937"/>
            <a:ext cx="2562225" cy="1933575"/>
          </a:xfrm>
          <a:prstGeom prst="roundRect">
            <a:avLst>
              <a:gd fmla="val 59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191250" y="2928937"/>
            <a:ext cx="2562225" cy="1933575"/>
          </a:xfrm>
          <a:prstGeom prst="roundRect">
            <a:avLst>
              <a:gd fmla="val 59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8943975" y="2928937"/>
            <a:ext cx="2562225" cy="1933575"/>
          </a:xfrm>
          <a:prstGeom prst="roundRect">
            <a:avLst>
              <a:gd fmla="val 59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685800" y="533400"/>
            <a:ext cx="10915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Space Mono"/>
                <a:ea typeface="Space Mono"/>
                <a:cs typeface="Space Mono"/>
                <a:sym typeface="Space Mono"/>
              </a:rPr>
              <a:t>11 / ROADMAP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Iterations &amp; System Scaling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895350" y="3195637"/>
            <a:ext cx="22383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3648075" y="3195637"/>
            <a:ext cx="22383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6400800" y="3195637"/>
            <a:ext cx="22383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9153525" y="3195637"/>
            <a:ext cx="223837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904875" y="363378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Weather Feeds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904875" y="3929062"/>
            <a:ext cx="2219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 DWD storm and freeze warnings.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3657600" y="363378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Delays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3657600" y="3929062"/>
            <a:ext cx="22193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upstream delay propagation across junctions.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6410325" y="363378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Regression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6410325" y="3929062"/>
            <a:ext cx="22193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 exact delay duration in minutes.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9163050" y="3633787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Endpoint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9163050" y="3929062"/>
            <a:ext cx="22193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sub-millisecond scoring service via FastAPI.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4444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0" y="104796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6937" y="11813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1933067" y="2415937"/>
            <a:ext cx="832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for Your Attention</a:t>
            </a:r>
            <a:endParaRPr/>
          </a:p>
        </p:txBody>
      </p:sp>
      <p:pic>
        <p:nvPicPr>
          <p:cNvPr id="325" name="Google Shape;32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038" y="3459600"/>
            <a:ext cx="2543926" cy="254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